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70" r:id="rId18"/>
    <p:sldId id="267" r:id="rId9"/>
    <p:sldId id="268" r:id="rId10"/>
    <p:sldId id="263" r:id="rId11"/>
    <p:sldId id="264" r:id="rId12"/>
    <p:sldId id="271" r:id="rId19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 snapToGrid="0" snapToObjects="1">
      <p:cViewPr varScale="1">
        <p:scale>
          <a:sx n="114" d="100"/>
          <a:sy n="114" d="100"/>
        </p:scale>
        <p:origin x="4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8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6B3FF"/>
                </a:solidFill>
                <a:latin typeface="Calibri"/>
              </a:defRPr>
            </a:pPr>
            <a:r>
              <a:t>Resume Parsing / Candidate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Fine-Tuning Phi-3.5-mini-instruct with LoRA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Natural Language Understanding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B3FF"/>
                </a:solidFill>
                <a:latin typeface="Calibri"/>
              </a:defRPr>
            </a:pPr>
            <a:r>
              <a:t>1. 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Goal: Extract structured candidate profiles from unstructured resume text using a fine-tuned LLM.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99"/>
                </a:solidFill>
                <a:latin typeface="Calibri"/>
              </a:defRPr>
            </a:pPr>
            <a:r>
              <a:t>Input (Raw Resume Text)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"Abhishek Jha</a:t>
            </a:r>
            <a:br/>
            <a:r>
              <a:t>Application Development Associate - Accenture</a:t>
            </a:r>
            <a:br/>
            <a:r>
              <a:t>Bengaluru, Karnataka</a:t>
            </a:r>
            <a:br/>
            <a:r>
              <a:t>B.E in Information Science, BVB College, 2017</a:t>
            </a:r>
            <a:br/>
            <a:r>
              <a:t>Skills: C, C++, Java, Oracle PeopleSoft,</a:t>
            </a:r>
            <a:br/>
            <a:r>
              <a:t>Machine Learning, Database Management..."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FF99"/>
                </a:solidFill>
                <a:latin typeface="Calibri"/>
              </a:defRPr>
            </a:pPr>
            <a:r>
              <a:t>Output (Structured 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5603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{</a:t>
            </a:r>
            <a:br/>
            <a:r>
              <a:t>  "Name": "Abhishek Jha",</a:t>
            </a:r>
            <a:br/>
            <a:r>
              <a:t>  "Email Address": "indeed.com/r/Abhishek-Jha/...",</a:t>
            </a:r>
            <a:br/>
            <a:r>
              <a:t>  "Location": ["Bengaluru"],</a:t>
            </a:r>
            <a:br/>
            <a:r>
              <a:t>  "Companies worked at": ["Accenture"],</a:t>
            </a:r>
            <a:br/>
            <a:r>
              <a:t>  "Designation": ["App Dev Associate"],</a:t>
            </a:r>
            <a:br/>
            <a:r>
              <a:t>  "Degree": ["B.E in Information Science"],</a:t>
            </a:r>
            <a:br/>
            <a:r>
              <a:t>  "College Name": ["BVB College"],</a:t>
            </a:r>
            <a:br/>
            <a:r>
              <a:t>  "Graduation Year": ["2017"],</a:t>
            </a:r>
            <a:br/>
            <a:r>
              <a:t>  "Skills": ["C","C++","Java","ML",...],</a:t>
            </a:r>
            <a:br/>
            <a:r>
              <a:t>  "Years of Experience": null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3474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6B3FF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10 Entity Types: Name, Email, Location, Companies, Designation, Degree, College, Graduation Year, Skills, Years of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B3FF"/>
                </a:solidFill>
                <a:latin typeface="Calibri"/>
              </a:defRPr>
            </a:pPr>
            <a:r>
              <a:t>2. Dataset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Source:  Entity Recognition in Resumes (Kaggle)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Format:  JSONL (one JSON object per line)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Size:  220 resumes, 3,556 annotations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Split:  170 train  /  25 validation  /  25 test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Annotation:  Character-level spans with entity labels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Preprocessing:  Offset fixes, skill splitting,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deduplication, instruction-tuning format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280160"/>
          <a:ext cx="502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Entity Type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Companies worked at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729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Designation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521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Skills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472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430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College Name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Degree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298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Graduation Year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 Address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Years of Experience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Resume lengths (words):  min=29,  max=2953,  median=402,  mean=518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B3FF"/>
                </a:solidFill>
                <a:latin typeface="Calibri"/>
              </a:defRPr>
            </a:pPr>
            <a:r>
              <a:t>2b. 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99"/>
                </a:solidFill>
                <a:latin typeface="Calibri"/>
              </a:defRPr>
            </a:pPr>
            <a:r>
              <a:t>Preprocessing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Cleaning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- Filtered out 2 UNKNOWN and 2 empty-label annotations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- Fixed ~6% annotation offset mismatches using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  fuzzy text search near stated positions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Skills Normalization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- Raw annotations capture entire skill blocks as one span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- Split into individual skills (commas, bullets, newlines)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- Removed duration markers: "(Less than 1 year)"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- Removed section headers: "Technical Skills:", etc.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- Deduplicated within each resume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Entity Grouping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- Grouped annotations by entity type per resume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- Single-value fields (Name, Email): take first occurrence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- Multi-value fields (Companies, Skills): collect as lists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 - Missing entities set to 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FF99"/>
                </a:solidFill>
                <a:latin typeface="Calibri"/>
              </a:defRPr>
            </a:pPr>
            <a:r>
              <a:t>Instruction-Tuning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Each resume becomes a 3-message conversation: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3FF"/>
                </a:solidFill>
                <a:latin typeface="Calibri"/>
              </a:defRPr>
            </a:pPr>
            <a:r>
              <a:t>System: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"You are an expert resume parser.</a:t>
            </a:r>
            <a:br/>
            <a:r>
              <a:t> Extract structured information..."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3FF"/>
                </a:solidFill>
                <a:latin typeface="Calibri"/>
              </a:defRPr>
            </a:pPr>
            <a:r>
              <a:t>User: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"Extract the following entities from</a:t>
            </a:r>
            <a:br/>
            <a:r>
              <a:t> this resume and return them as JSON</a:t>
            </a:r>
            <a:br/>
            <a:r>
              <a:t> with these keys: Name, Email, ...</a:t>
            </a:r>
            <a:br/>
            <a:br/>
            <a:r>
              <a:t> Resume: ---\n{resume_text}\n---"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3FF"/>
                </a:solidFill>
                <a:latin typeface="Calibri"/>
              </a:defRPr>
            </a:pPr>
            <a:r>
              <a:t>Assistant (target):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{</a:t>
            </a:r>
            <a:br/>
            <a:r>
              <a:t>  "Name": "Abhishek Jha",</a:t>
            </a:r>
            <a:br/>
            <a:r>
              <a:t>  "Email": "indeed.com/r/...",</a:t>
            </a:r>
            <a:br/>
            <a:r>
              <a:t>  "Location": ["Bengaluru"],</a:t>
            </a:r>
            <a:br/>
            <a:r>
              <a:t>  "Companies": ["Accenture"],</a:t>
            </a:r>
            <a:br/>
            <a:r>
              <a:t>  "Skills": ["C++","Java",...],</a:t>
            </a:r>
            <a:br/>
            <a:r>
              <a:t>  ...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943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220 resumes  -&gt;  170 train / 25 val / 25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B3FF"/>
                </a:solidFill>
                <a:latin typeface="Calibri"/>
              </a:defRPr>
            </a:pPr>
            <a:r>
              <a:t>3. Base Model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microsoft/Phi-3.5-mini-instruct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2860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3.82 Billion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Transformer Decoder (Causal LM)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Context Window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128K tokens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Quantization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4-bit NF4 (bitsandbytes) to fit on T4 GPU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Data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Web data, code, synthetic data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Strength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Strong instruction-following for structured extraction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GPU Used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Google Colab T4 (16 GB VRAM)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B3FF"/>
                </a:solidFill>
                <a:latin typeface="Calibri"/>
              </a:defRPr>
            </a:pPr>
            <a:r>
              <a:t>4. Fine-Tuning with LoRA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LoRA (Low-Rank Adaptation) decomposes weight updates into two small matrices instead of updating the full weight matrix.</a:t>
            </a:r>
            <a:br/>
            <a:br/>
            <a:r>
              <a:t>W' = W + B x A    where A is (d x r) and B is (r x d), r &lt;&lt; d</a:t>
            </a:r>
            <a:br/>
            <a:br/>
            <a:r>
              <a:t>This reduces trainable parameters from billions to millions while preserving fine-tuning quality.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4747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LoRA Parameter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 (r)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Alpha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Dropout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0.05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Modules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All attention + MLP projections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Trainable Params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8.9M  (0.23% of 3.82B)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34747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Config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Epochs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Batch Size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(accum. 4)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Learning Rate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2e-4 (cosine)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Optimizer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Paged AdamW 8-bit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Time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~32 minutes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B3FF"/>
                </a:solidFill>
                <a:latin typeface="Calibri"/>
              </a:defRPr>
            </a:pPr>
            <a:r>
              <a:t>5. Evaluation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Entity-Level Metrics (per entity type):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Precision = correct extractions / total extracted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Recall = correct extractions / total in ground truth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F1 = harmonic mean of Precision and Recall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Aggregation:  Macro-Average F1 across all 10 entity types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JSON Validity Rate:  % of model outputs that parse as valid JSON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Comparison:  Same 25 test resumes evaluated before and after fine-tuning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Matching:  Exact match for most entities; fuzzy (substring) matching for Skills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B3FF"/>
                </a:solidFill>
                <a:latin typeface="Calibri"/>
              </a:defRPr>
            </a:pPr>
            <a:r>
              <a:t>6. Results - F1 Score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91440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4630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Model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Fine-Tuned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 F1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0.4636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0.6064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+0.1428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JSON Validity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68.0%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72.0%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+4.0%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F1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4183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B3FF"/>
                </a:solidFill>
                <a:latin typeface="Calibri"/>
              </a:defRPr>
            </a:pPr>
            <a:r>
              <a:t>6. Results — Training &amp; Validation Loss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B3FF"/>
                </a:solidFill>
                <a:latin typeface="Calibri"/>
              </a:defRPr>
            </a:pPr>
            <a:r>
              <a:t>6. Results — Per-Entity Metrics &amp; JSON Validity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943600" cy="53035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B3FF"/>
                </a:solidFill>
                <a:latin typeface="Calibri"/>
              </a:defRPr>
            </a:pPr>
            <a:r>
              <a:t>6. Detailed Per-Entity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9601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Entity Type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P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R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F1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FT P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FT R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FT F1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Change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0.960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0.640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0.640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0.720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0.720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+0.080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 Address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0.640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0.400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0.320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0.720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0.640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+0.320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0.320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0.880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0.640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0.560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+0.560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Companies worked at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0.563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0.620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0.447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0.520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0.433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0.287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-0.160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Designation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0.717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0.473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0.423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0.780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0.567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0.459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+0.035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Degree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0.867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0.500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0.512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0.873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0.560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0.551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+0.039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College Name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0.860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0.613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0.540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0.853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0.650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0.564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+0.024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Graduation Year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0.770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0.753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0.596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0.930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0.760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0.749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+0.153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Skills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0.784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0.636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0.518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0.946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0.668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0.695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+0.177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Years of Experience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0.640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0.640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0.840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0.840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+0.200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FF99"/>
                </a:solidFill>
                <a:latin typeface="Calibri"/>
              </a:defRPr>
            </a:pPr>
            <a:r>
              <a:t>Biggest improvements: Location (+0.56), Email (+0.32), Years of Experience (+0.20), Skills (+0.18)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B3FF"/>
                </a:solidFill>
                <a:latin typeface="Calibri"/>
              </a:defRPr>
            </a:pPr>
            <a:r>
              <a:t>7. Structured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FF99"/>
                </a:solidFill>
                <a:latin typeface="Calibri"/>
              </a:defRPr>
            </a:pPr>
            <a:r>
              <a:t>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/>
              </a:defRPr>
            </a:pPr>
            <a:r>
              <a:t>{</a:t>
            </a:r>
            <a:br/>
            <a:r>
              <a:t>  "Name": "Partho Sarathi Mitra",</a:t>
            </a:r>
            <a:br/>
            <a:r>
              <a:t>  "Email": "indeed.com/r/...",</a:t>
            </a:r>
            <a:br/>
            <a:r>
              <a:t>  "Location": ["Kolkata"],</a:t>
            </a:r>
            <a:br/>
            <a:r>
              <a:t>  "Companies": ["Nokia &amp;</a:t>
            </a:r>
            <a:br/>
            <a:r>
              <a:t>    Microsoft mobile"],</a:t>
            </a:r>
            <a:br/>
            <a:r>
              <a:t>  "Designation": ["Senior</a:t>
            </a:r>
            <a:br/>
            <a:r>
              <a:t>    Sales Executive"],</a:t>
            </a:r>
            <a:br/>
            <a:r>
              <a:t>  "Degree": ["B.com"],</a:t>
            </a:r>
            <a:br/>
            <a:r>
              <a:t>  "College": ["Surendranath</a:t>
            </a:r>
            <a:br/>
            <a:r>
              <a:t>    college Barrackpore"],</a:t>
            </a:r>
            <a:br/>
            <a:r>
              <a:t>  "Grad Year": null,</a:t>
            </a:r>
            <a:br/>
            <a:r>
              <a:t>  "Skills": null,</a:t>
            </a:r>
            <a:br/>
            <a:r>
              <a:t>  "YoE": null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99"/>
                </a:solidFill>
                <a:latin typeface="Calibri"/>
              </a:defRPr>
            </a:pPr>
            <a:r>
              <a:t>Base Model (Zero-Shot)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/>
              </a:defRPr>
            </a:pPr>
            <a:r>
              <a:t>{</a:t>
            </a:r>
            <a:br/>
            <a:r>
              <a:t>  "Name": "Partho Sarathi Mitra",</a:t>
            </a:r>
            <a:br/>
            <a:r>
              <a:t>  "Email": "indeed.com/r/...",</a:t>
            </a:r>
            <a:br/>
            <a:r>
              <a:t>  "Location": "Kolkata,</a:t>
            </a:r>
            <a:br/>
            <a:r>
              <a:t>    West Bengal",</a:t>
            </a:r>
            <a:br/>
            <a:r>
              <a:t>  "Companies": ["Nokia",</a:t>
            </a:r>
            <a:br/>
            <a:r>
              <a:t>    "Microsoft mobile"],</a:t>
            </a:r>
            <a:br/>
            <a:r>
              <a:t>  "Designation": "Senior</a:t>
            </a:r>
            <a:br/>
            <a:r>
              <a:t>    Sales Executive",</a:t>
            </a:r>
            <a:br/>
            <a:r>
              <a:t>  "Degree": "B.com",</a:t>
            </a:r>
            <a:br/>
            <a:r>
              <a:t>  "College": "Surendranath</a:t>
            </a:r>
            <a:br/>
            <a:r>
              <a:t>    college Barrackpore",</a:t>
            </a:r>
            <a:br/>
            <a:r>
              <a:t>  "Grad Year": null,</a:t>
            </a:r>
            <a:br/>
            <a:r>
              <a:t>  "Skills": null,</a:t>
            </a:r>
            <a:br/>
            <a:r>
              <a:t>  "YoE": "March 2005 to</a:t>
            </a:r>
            <a:br/>
            <a:r>
              <a:t>    April 2016"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3FF"/>
                </a:solidFill>
                <a:latin typeface="Calibri"/>
              </a:defRPr>
            </a:pPr>
            <a:r>
              <a:t>LoRA Fine-Tuned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/>
              </a:defRPr>
            </a:pPr>
            <a:r>
              <a:t>{</a:t>
            </a:r>
            <a:br/>
            <a:r>
              <a:t>  "Name": "Partho Sarathi Mitra",</a:t>
            </a:r>
            <a:br/>
            <a:r>
              <a:t>  "Email": "indeed.com/r/...",</a:t>
            </a:r>
            <a:br/>
            <a:r>
              <a:t>  "Location": ["Kolkata"],</a:t>
            </a:r>
            <a:br/>
            <a:r>
              <a:t>  "Companies": ["Nokia &amp;</a:t>
            </a:r>
            <a:br/>
            <a:r>
              <a:t>    Microsoft mobile"],</a:t>
            </a:r>
            <a:br/>
            <a:r>
              <a:t>  "Designation": ["Senior</a:t>
            </a:r>
            <a:br/>
            <a:r>
              <a:t>    Sales Executive"],</a:t>
            </a:r>
            <a:br/>
            <a:r>
              <a:t>  "Degree": ["B.com"],</a:t>
            </a:r>
            <a:br/>
            <a:r>
              <a:t>  "College": ["Surendranath</a:t>
            </a:r>
            <a:br/>
            <a:r>
              <a:t>    college Barrackpore"],</a:t>
            </a:r>
            <a:br/>
            <a:r>
              <a:t>  "Grad Year": null,</a:t>
            </a:r>
            <a:br/>
            <a:r>
              <a:t>  "Skills": null,</a:t>
            </a:r>
            <a:br/>
            <a:r>
              <a:t>  "YoE": null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999"/>
                </a:solidFill>
                <a:latin typeface="Calibri"/>
              </a:defRPr>
            </a:pPr>
            <a:r>
              <a:t>Issues: wrong format, split company,</a:t>
            </a:r>
            <a:br/>
            <a:r>
              <a:t>hallucinated YoE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FF99"/>
                </a:solidFill>
                <a:latin typeface="Calibri"/>
              </a:defRPr>
            </a:pPr>
            <a:r>
              <a:t>Matches ground truth perfectly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B3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LoRA fine-tuning improved Macro F1 from 0.46 to 0.61 (+31% relative improvement)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Only 0.23% of model parameters were trained (8.9M out of 3.82B)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Training completed in ~32 minutes on a free Google Colab T4 GPU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Biggest gains: Location (0.00 to 0.56), Email (0.32 to 0.64), Skills (0.52 to 0.70)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Fine-tuned model produces consistently structured JSON output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LoRA demonstrates that efficient fine-tuning can meaningfully improve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LLM performance on domain-specific NER tasks with minimal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6B3FF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B3FF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99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Class Imbalance: "Years of Experience" has only 44 annotations (2%) vs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 729 for "Companies worked at" (21%). The model defaults to null for rare entities.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Small Dataset: 220 resumes is limited for fine-tuning an LLM.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 More data would likely improve performance across all entity types.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Companies worked at F1 decreased (-0.16): The base model sometimes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 splits company names differently than the ground truth annotations.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JSON Validity only reached 72%: Some outputs still fail to parse as valid JSON.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FF99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Data augmentation for rare entity types (especially Years of Experience)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Larger dataset collection to improve generalization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Constrained decoding to guarantee valid JSON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1473</Words>
  <Application>Microsoft Macintosh PowerPoint</Application>
  <PresentationFormat>Widescreen</PresentationFormat>
  <Paragraphs>242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AliEldin_20220296</cp:lastModifiedBy>
  <cp:revision>3</cp:revision>
  <dcterms:created xsi:type="dcterms:W3CDTF">2013-01-27T09:14:16Z</dcterms:created>
  <dcterms:modified xsi:type="dcterms:W3CDTF">2026-04-11T21:43:29Z</dcterms:modified>
  <cp:category/>
</cp:coreProperties>
</file>